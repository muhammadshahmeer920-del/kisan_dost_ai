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0E251C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206240"/>
            <a:ext cx="3840480" cy="3840480"/>
          </a:xfrm>
          <a:prstGeom prst="ellipse">
            <a:avLst/>
          </a:prstGeom>
          <a:solidFill>
            <a:srgbClr val="0E251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685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BANO QABIL &amp; ALIBABA HACKATHON 2026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14884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KisanDost AI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33756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Livestock Intelligence &amp; Dual-Portal Ecosystem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97764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9F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full-stack, trilingual AI platform putting a 24/7 pocket veterinarian in the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9F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of smallholder farmers and district livestock administrations.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525780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0E251C"/>
          </a:solidFill>
          <a:ln w="12700">
            <a:solidFill>
              <a:srgbClr val="2A524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96112" y="5367528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8M+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5879592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Smallholder Farmers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525780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0E251C"/>
          </a:solidFill>
          <a:ln w="12700">
            <a:solidFill>
              <a:srgbClr val="2A524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47872" y="5367528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 / 3.1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3547872" y="5879592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Flash Models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525780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0E251C"/>
          </a:solidFill>
          <a:ln w="12700">
            <a:solidFill>
              <a:srgbClr val="2A524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99632" y="5367528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6199632" y="5879592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Languages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686800" y="525780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0E251C"/>
          </a:solidFill>
          <a:ln w="12700">
            <a:solidFill>
              <a:srgbClr val="2A524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851392" y="5367528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8851392" y="5879592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Resilient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7899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the acute veterinary deficit through AI, voice and offline resilience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Mission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84832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24/7 pocket veterinary care to agrarian economies — fusing high-precision multimodal AI vision with a localized Urdu/Punjabi voice assistant, biosecurity scoring, digital health-twin modeling, and a real-time livestock marketplace.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749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Audience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1148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8+ million smallholder dairy and cattle farmers across Pakistan and developing agrarian regions.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6916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Dual-Portal Concept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26480" y="214884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7F2E4"/>
          </a:solidFill>
          <a:ln w="12700">
            <a:solidFill>
              <a:srgbClr val="EDE3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82512" y="2404872"/>
            <a:ext cx="566928" cy="566928"/>
          </a:xfrm>
          <a:prstGeom prst="ellipse">
            <a:avLst/>
          </a:prstGeom>
          <a:solidFill>
            <a:srgbClr val="173B2E"/>
          </a:solidFill>
          <a:ln/>
        </p:spPr>
      </p:sp>
      <p:pic>
        <p:nvPicPr>
          <p:cNvPr id="11" name="Image 0" descr="icons/user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8816" y="2551176"/>
            <a:ext cx="274320" cy="27432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7132320" y="233172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Farmer Space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132320" y="2660904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disease diagnostics, voice assistance, milk-yield forecasting, digital animal health passports.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126480" y="374904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7F2E4"/>
          </a:solidFill>
          <a:ln w="12700">
            <a:solidFill>
              <a:srgbClr val="EDE3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382512" y="4005072"/>
            <a:ext cx="566928" cy="566928"/>
          </a:xfrm>
          <a:prstGeom prst="ellipse">
            <a:avLst/>
          </a:prstGeom>
          <a:solidFill>
            <a:srgbClr val="173B2E"/>
          </a:solidFill>
          <a:ln/>
        </p:spPr>
      </p:sp>
      <p:pic>
        <p:nvPicPr>
          <p:cNvPr id="16" name="Image 1" descr="icons/shield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816" y="4151376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32320" y="393192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Admin Hub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7132320" y="4261104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outbreak surveillance, livestock licensing, real-time AI telemetry and RBAC oversight.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KisanDost AI  •  Bano Qabil &amp; Alibaba Hackathon 2026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78992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structural gaps facing smallholder livestock farmers in agrarian economies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7F2E4"/>
          </a:solidFill>
          <a:ln w="12700">
            <a:solidFill>
              <a:srgbClr val="EDE3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1929384"/>
            <a:ext cx="548640" cy="548640"/>
          </a:xfrm>
          <a:prstGeom prst="ellipse">
            <a:avLst/>
          </a:prstGeom>
          <a:solidFill>
            <a:srgbClr val="173B2E"/>
          </a:solidFill>
          <a:ln/>
        </p:spPr>
      </p:sp>
      <p:pic>
        <p:nvPicPr>
          <p:cNvPr id="6" name="Image 0" descr="icons/stethoscop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" y="2066544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206240" y="189280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: 15,000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737360" y="240487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Veterinary Deficit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1051560" y="2807208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certified vet per 15,000 animals; 70% of outbreaks diagnosed 4–7 days too late.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0" y="169164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7F2E4"/>
          </a:solidFill>
          <a:ln w="12700">
            <a:solidFill>
              <a:srgbClr val="EDE3C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56832" y="1929384"/>
            <a:ext cx="548640" cy="548640"/>
          </a:xfrm>
          <a:prstGeom prst="ellipse">
            <a:avLst/>
          </a:prstGeom>
          <a:solidFill>
            <a:srgbClr val="173B2E"/>
          </a:solidFill>
          <a:ln/>
        </p:spPr>
      </p:sp>
      <p:pic>
        <p:nvPicPr>
          <p:cNvPr id="12" name="Image 1" descr="icons/languag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2" y="2066544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9875520" y="189280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68%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7406640" y="240487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Literacy &amp; Language Barriers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6720840" y="2807208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cannot read English prescriptions, driving quack medicine and calf mortality.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31520" y="393192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7F2E4"/>
          </a:solidFill>
          <a:ln w="12700">
            <a:solidFill>
              <a:srgbClr val="EDE3C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87552" y="4169664"/>
            <a:ext cx="548640" cy="548640"/>
          </a:xfrm>
          <a:prstGeom prst="ellipse">
            <a:avLst/>
          </a:prstGeom>
          <a:solidFill>
            <a:srgbClr val="173B2E"/>
          </a:solidFill>
          <a:ln/>
        </p:spPr>
      </p:sp>
      <p:pic>
        <p:nvPicPr>
          <p:cNvPr id="18" name="Image 2" descr="icons/wifi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" y="4306824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206240" y="413308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3G / 4G</a:t>
            </a:r>
            <a:endParaRPr lang="en-US" sz="2200" dirty="0"/>
          </a:p>
        </p:txBody>
      </p:sp>
      <p:sp>
        <p:nvSpPr>
          <p:cNvPr id="20" name="Text 15"/>
          <p:cNvSpPr txBox="1"/>
          <p:nvPr/>
        </p:nvSpPr>
        <p:spPr>
          <a:xfrm>
            <a:off x="1737360" y="464515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Rural Cellular Blackouts</a:t>
            </a:r>
            <a:endParaRPr lang="en-US" sz="1450" dirty="0"/>
          </a:p>
        </p:txBody>
      </p:sp>
      <p:sp>
        <p:nvSpPr>
          <p:cNvPr id="21" name="Text 16"/>
          <p:cNvSpPr txBox="1"/>
          <p:nvPr/>
        </p:nvSpPr>
        <p:spPr>
          <a:xfrm>
            <a:off x="1051560" y="5047488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connectivity loss renders standard cloud-only apps completely unusable.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400800" y="393192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7F2E4"/>
          </a:solidFill>
          <a:ln w="12700">
            <a:solidFill>
              <a:srgbClr val="EDE3C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656832" y="4169664"/>
            <a:ext cx="548640" cy="548640"/>
          </a:xfrm>
          <a:prstGeom prst="ellipse">
            <a:avLst/>
          </a:prstGeom>
          <a:solidFill>
            <a:srgbClr val="173B2E"/>
          </a:solidFill>
          <a:ln/>
        </p:spPr>
      </p:sp>
      <p:pic>
        <p:nvPicPr>
          <p:cNvPr id="24" name="Image 3" descr="icons/users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992" y="4306824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875520" y="413308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200" dirty="0"/>
          </a:p>
        </p:txBody>
      </p:sp>
      <p:sp>
        <p:nvSpPr>
          <p:cNvPr id="26" name="Text 20"/>
          <p:cNvSpPr txBox="1"/>
          <p:nvPr/>
        </p:nvSpPr>
        <p:spPr>
          <a:xfrm>
            <a:off x="7406640" y="464515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Mandi Exploitation</a:t>
            </a:r>
            <a:endParaRPr lang="en-US" sz="1450" dirty="0"/>
          </a:p>
        </p:txBody>
      </p:sp>
      <p:sp>
        <p:nvSpPr>
          <p:cNvPr id="27" name="Text 21"/>
          <p:cNvSpPr txBox="1"/>
          <p:nvPr/>
        </p:nvSpPr>
        <p:spPr>
          <a:xfrm>
            <a:off x="6720840" y="5047488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Middlemen underprice livestock — no verifiable vaccination records or health passports.</a:t>
            </a:r>
            <a:endParaRPr lang="en-US" sz="1150" dirty="0"/>
          </a:p>
        </p:txBody>
      </p:sp>
      <p:sp>
        <p:nvSpPr>
          <p:cNvPr id="28" name="Text 2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KisanDost AI  •  Bano Qabil &amp; Alibaba Hackathon 2026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2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Interfaces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78992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access with seamless, real-time state synchronization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5349240" cy="3337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EDE3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1984248"/>
            <a:ext cx="640080" cy="640080"/>
          </a:xfrm>
          <a:prstGeom prst="ellipse">
            <a:avLst/>
          </a:prstGeom>
          <a:solidFill>
            <a:srgbClr val="173B2E"/>
          </a:solidFill>
          <a:ln/>
        </p:spPr>
      </p:sp>
      <p:pic>
        <p:nvPicPr>
          <p:cNvPr id="6" name="Image 0" descr="icons/mobil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152" y="2148840"/>
            <a:ext cx="310896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74520" y="201168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Application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874520" y="235000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/ PWA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2926080"/>
            <a:ext cx="46177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Touch-optimized, camera-vision first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local storage for rural use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Urdu voice-first interactions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55080" y="1691640"/>
            <a:ext cx="5349240" cy="3337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EDE3C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75120" y="1984248"/>
            <a:ext cx="640080" cy="640080"/>
          </a:xfrm>
          <a:prstGeom prst="ellipse">
            <a:avLst/>
          </a:prstGeom>
          <a:solidFill>
            <a:srgbClr val="173B2E"/>
          </a:solidFill>
          <a:ln/>
        </p:spPr>
      </p:sp>
      <p:pic>
        <p:nvPicPr>
          <p:cNvPr id="12" name="Image 1" descr="icons/desktop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9712" y="2148840"/>
            <a:ext cx="310896" cy="31089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498080" y="201168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Application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7498080" y="235000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/ Next.js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6720840" y="2926080"/>
            <a:ext cx="46177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High-density admin dashboards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charts &amp; telemetry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management console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731520" y="5257800"/>
            <a:ext cx="10972800" cy="685800"/>
          </a:xfrm>
          <a:prstGeom prst="roundRect">
            <a:avLst>
              <a:gd name="adj" fmla="val 10667"/>
            </a:avLst>
          </a:prstGeom>
          <a:solidFill>
            <a:srgbClr val="173B2E"/>
          </a:solidFill>
          <a:ln/>
        </p:spPr>
      </p:sp>
      <p:pic>
        <p:nvPicPr>
          <p:cNvPr id="17" name="Image 2" descr="icons/bolt_D98E0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5440680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17320" y="5349240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Express.js backend with Socket.io real-time pipelines — instant cross-device sync for orders, chat history &amp; livestock health profiles.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KisanDost AI  •  Bano Qabil &amp; Alibaba Hackathon 2026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2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0584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resilient, three-tier flow from client to cloud AI — with a local offline brain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3246120" cy="2331720"/>
          </a:xfrm>
          <a:prstGeom prst="roundRect">
            <a:avLst>
              <a:gd name="adj" fmla="val 3529"/>
            </a:avLst>
          </a:prstGeom>
          <a:solidFill>
            <a:srgbClr val="173B2E"/>
          </a:solidFill>
          <a:ln w="12700">
            <a:solidFill>
              <a:srgbClr val="2A52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920240"/>
            <a:ext cx="502920" cy="502920"/>
          </a:xfrm>
          <a:prstGeom prst="ellipse">
            <a:avLst/>
          </a:prstGeom>
          <a:solidFill>
            <a:srgbClr val="D98E04"/>
          </a:solidFill>
          <a:ln/>
        </p:spPr>
      </p:sp>
      <p:pic>
        <p:nvPicPr>
          <p:cNvPr id="6" name="Image 0" descr="icons/mobile_173B2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039112"/>
            <a:ext cx="265176" cy="2651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256032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Tier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292608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SPA / Flutter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Tag Scanner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032504" y="26563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98E04"/>
                </a:solidFill>
              </a:rPr>
              <a:t>▶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480560" y="1691640"/>
            <a:ext cx="3246120" cy="2331720"/>
          </a:xfrm>
          <a:prstGeom prst="roundRect">
            <a:avLst>
              <a:gd name="adj" fmla="val 3529"/>
            </a:avLst>
          </a:prstGeom>
          <a:solidFill>
            <a:srgbClr val="173B2E"/>
          </a:solidFill>
          <a:ln w="12700">
            <a:solidFill>
              <a:srgbClr val="2A524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9160" y="1920240"/>
            <a:ext cx="502920" cy="502920"/>
          </a:xfrm>
          <a:prstGeom prst="ellipse">
            <a:avLst/>
          </a:prstGeom>
          <a:solidFill>
            <a:srgbClr val="D98E04"/>
          </a:solidFill>
          <a:ln/>
        </p:spPr>
      </p:sp>
      <p:pic>
        <p:nvPicPr>
          <p:cNvPr id="12" name="Image 1" descr="icons/server_173B2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2039112"/>
            <a:ext cx="265176" cy="26517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709160" y="256032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Tier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4709160" y="292608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REST Gateway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Enforcement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&amp; Rate Guards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7781544" y="26563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98E04"/>
                </a:solidFill>
              </a:rPr>
              <a:t>▶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8229600" y="1691640"/>
            <a:ext cx="3383280" cy="685800"/>
          </a:xfrm>
          <a:prstGeom prst="roundRect">
            <a:avLst>
              <a:gd name="adj" fmla="val 10667"/>
            </a:avLst>
          </a:prstGeom>
          <a:solidFill>
            <a:srgbClr val="D98E04"/>
          </a:solidFill>
          <a:ln/>
        </p:spPr>
      </p:sp>
      <p:pic>
        <p:nvPicPr>
          <p:cNvPr id="17" name="Image 2" descr="icons/cloud_173B2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1865376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823960" y="176479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GenAI Cloud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8823960" y="20391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2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3.7 Flash / 3.1 Flash Lite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8229600" y="2514600"/>
            <a:ext cx="3383280" cy="685800"/>
          </a:xfrm>
          <a:prstGeom prst="roundRect">
            <a:avLst>
              <a:gd name="adj" fmla="val 10667"/>
            </a:avLst>
          </a:prstGeom>
          <a:solidFill>
            <a:srgbClr val="D98E04"/>
          </a:solidFill>
          <a:ln/>
        </p:spPr>
      </p:sp>
      <p:pic>
        <p:nvPicPr>
          <p:cNvPr id="21" name="Image 3" descr="icons/database_173B2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4192" y="2688336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823960" y="258775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Firebase Firestore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8823960" y="2862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2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Livestock, Outbreak Data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8229600" y="3337560"/>
            <a:ext cx="3383280" cy="685800"/>
          </a:xfrm>
          <a:prstGeom prst="roundRect">
            <a:avLst>
              <a:gd name="adj" fmla="val 10667"/>
            </a:avLst>
          </a:prstGeom>
          <a:solidFill>
            <a:srgbClr val="D98E04"/>
          </a:solidFill>
          <a:ln/>
        </p:spPr>
      </p:sp>
      <p:pic>
        <p:nvPicPr>
          <p:cNvPr id="25" name="Image 4" descr="icons/wifi_173B2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4192" y="3511296"/>
            <a:ext cx="329184" cy="32918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8823960" y="34107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Offline Vet Engine</a:t>
            </a:r>
            <a:endParaRPr lang="en-US" sz="1250" dirty="0"/>
          </a:p>
        </p:txBody>
      </p:sp>
      <p:sp>
        <p:nvSpPr>
          <p:cNvPr id="27" name="Text 20"/>
          <p:cNvSpPr txBox="1"/>
          <p:nvPr/>
        </p:nvSpPr>
        <p:spPr>
          <a:xfrm>
            <a:off x="8823960" y="36850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2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Disease Heuristic Matrix</a:t>
            </a:r>
            <a:endParaRPr lang="en-US" sz="950" dirty="0"/>
          </a:p>
        </p:txBody>
      </p:sp>
      <p:sp>
        <p:nvSpPr>
          <p:cNvPr id="28" name="Text 21"/>
          <p:cNvSpPr txBox="1"/>
          <p:nvPr/>
        </p:nvSpPr>
        <p:spPr>
          <a:xfrm>
            <a:off x="731520" y="43434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AI Gateway: prioritizes Gemini 3.7 Flash → falls back to 3.1 Flash Lite → falls back to the local offline knowledge engine on network timeout.</a:t>
            </a:r>
            <a:endParaRPr lang="en-US" sz="1250" dirty="0"/>
          </a:p>
        </p:txBody>
      </p:sp>
      <p:sp>
        <p:nvSpPr>
          <p:cNvPr id="29" name="Text 2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KisanDost AI  •  Bano Qabil &amp; Alibaba Hackathon 2026</a:t>
            </a:r>
            <a:endParaRPr lang="en-US" sz="900" dirty="0"/>
          </a:p>
        </p:txBody>
      </p:sp>
      <p:sp>
        <p:nvSpPr>
          <p:cNvPr id="30" name="Text 2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Features — Multimodal AI &amp; Voice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7899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a pocket veterinarian in every farmer's hand, in their own language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10725912" cy="2148840"/>
          </a:xfrm>
          <a:prstGeom prst="roundRect">
            <a:avLst>
              <a:gd name="adj" fmla="val 4255"/>
            </a:avLst>
          </a:prstGeom>
          <a:solidFill>
            <a:srgbClr val="F7F2E4"/>
          </a:solidFill>
          <a:ln w="12700">
            <a:solidFill>
              <a:srgbClr val="EDE3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2382012"/>
            <a:ext cx="768096" cy="768096"/>
          </a:xfrm>
          <a:prstGeom prst="ellipse">
            <a:avLst/>
          </a:prstGeom>
          <a:solidFill>
            <a:srgbClr val="D98E04"/>
          </a:solidFill>
          <a:ln/>
        </p:spPr>
      </p:sp>
      <p:pic>
        <p:nvPicPr>
          <p:cNvPr id="6" name="Image 0" descr="icons/camera_173B2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1872" y="2592324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148840" y="1947672"/>
            <a:ext cx="6428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Multimodal Disease Scanner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2148840" y="2350008"/>
            <a:ext cx="64282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photograph skin lesions, eye discharge or hoof infections. Gemini 3.7 Flash returns diagnosis, confidence score, emergency level and Urdu home remedies.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851392" y="2473452"/>
            <a:ext cx="2240280" cy="5852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98E0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851392" y="2473452"/>
            <a:ext cx="2240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3.7 Flash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31520" y="4096512"/>
            <a:ext cx="10725912" cy="2148840"/>
          </a:xfrm>
          <a:prstGeom prst="roundRect">
            <a:avLst>
              <a:gd name="adj" fmla="val 4255"/>
            </a:avLst>
          </a:prstGeom>
          <a:solidFill>
            <a:srgbClr val="F7F2E4"/>
          </a:solidFill>
          <a:ln w="12700">
            <a:solidFill>
              <a:srgbClr val="EDE3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51560" y="4786884"/>
            <a:ext cx="768096" cy="768096"/>
          </a:xfrm>
          <a:prstGeom prst="ellipse">
            <a:avLst/>
          </a:prstGeom>
          <a:solidFill>
            <a:srgbClr val="D98E04"/>
          </a:solidFill>
          <a:ln/>
        </p:spPr>
      </p:sp>
      <p:pic>
        <p:nvPicPr>
          <p:cNvPr id="13" name="Image 1" descr="icons/mic_173B2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872" y="4997196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148840" y="4352544"/>
            <a:ext cx="6428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Voice AI Assistant</a:t>
            </a:r>
            <a:endParaRPr lang="en-US" sz="1650" dirty="0"/>
          </a:p>
        </p:txBody>
      </p:sp>
      <p:sp>
        <p:nvSpPr>
          <p:cNvPr id="15" name="Text 11"/>
          <p:cNvSpPr txBox="1"/>
          <p:nvPr/>
        </p:nvSpPr>
        <p:spPr>
          <a:xfrm>
            <a:off x="2148840" y="4754880"/>
            <a:ext cx="64282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Urdu &amp; Punjabi voice input/output via the Web Speech API, with context-aware conversational guidance built for low-literacy farmers.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851392" y="4878324"/>
            <a:ext cx="2240280" cy="5852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98E04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851392" y="4878324"/>
            <a:ext cx="2240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KisanDost AI  •  Bano Qabil &amp; Alibaba Hackathon 2026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Features — Digital Twin &amp; Biosecurity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7899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health modeling and farm-level risk scoring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10725912" cy="2148840"/>
          </a:xfrm>
          <a:prstGeom prst="roundRect">
            <a:avLst>
              <a:gd name="adj" fmla="val 4255"/>
            </a:avLst>
          </a:prstGeom>
          <a:solidFill>
            <a:srgbClr val="173B2E"/>
          </a:solidFill>
          <a:ln w="12700">
            <a:solidFill>
              <a:srgbClr val="2A52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2382012"/>
            <a:ext cx="768096" cy="768096"/>
          </a:xfrm>
          <a:prstGeom prst="ellipse">
            <a:avLst/>
          </a:prstGeom>
          <a:solidFill>
            <a:srgbClr val="D98E04"/>
          </a:solidFill>
          <a:ln/>
        </p:spPr>
      </p:sp>
      <p:pic>
        <p:nvPicPr>
          <p:cNvPr id="6" name="Image 0" descr="icons/heartbeat_173B2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1872" y="2592324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148840" y="1947672"/>
            <a:ext cx="6428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Health Twin &amp; Milk Yield Forecast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2148840" y="2350008"/>
            <a:ext cx="64282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weight, lactation cycle, feed intake and heat index to predict milk-yield curves and flag early sub-clinical mastitis risk.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851392" y="2473452"/>
            <a:ext cx="2240280" cy="585216"/>
          </a:xfrm>
          <a:prstGeom prst="roundRect">
            <a:avLst>
              <a:gd name="adj" fmla="val 50000"/>
            </a:avLst>
          </a:prstGeom>
          <a:solidFill>
            <a:srgbClr val="0E251C"/>
          </a:solidFill>
          <a:ln w="15875">
            <a:solidFill>
              <a:srgbClr val="D98E0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851392" y="2473452"/>
            <a:ext cx="2240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AI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31520" y="4096512"/>
            <a:ext cx="10725912" cy="2148840"/>
          </a:xfrm>
          <a:prstGeom prst="roundRect">
            <a:avLst>
              <a:gd name="adj" fmla="val 4255"/>
            </a:avLst>
          </a:prstGeom>
          <a:solidFill>
            <a:srgbClr val="173B2E"/>
          </a:solidFill>
          <a:ln w="12700">
            <a:solidFill>
              <a:srgbClr val="2A524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51560" y="4786884"/>
            <a:ext cx="768096" cy="768096"/>
          </a:xfrm>
          <a:prstGeom prst="ellipse">
            <a:avLst/>
          </a:prstGeom>
          <a:solidFill>
            <a:srgbClr val="D98E04"/>
          </a:solidFill>
          <a:ln/>
        </p:spPr>
      </p:sp>
      <p:pic>
        <p:nvPicPr>
          <p:cNvPr id="13" name="Image 1" descr="icons/shieldvirus_173B2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872" y="4997196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148840" y="4352544"/>
            <a:ext cx="6428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Biosecurity Risk Assessment Engine</a:t>
            </a:r>
            <a:endParaRPr lang="en-US" sz="1650" dirty="0"/>
          </a:p>
        </p:txBody>
      </p:sp>
      <p:sp>
        <p:nvSpPr>
          <p:cNvPr id="15" name="Text 11"/>
          <p:cNvSpPr txBox="1"/>
          <p:nvPr/>
        </p:nvSpPr>
        <p:spPr>
          <a:xfrm>
            <a:off x="2148840" y="4754880"/>
            <a:ext cx="64282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a 5-domain farm biosecurity index — quarantine, foot-dips, waste management — and generates a 7-day remedial roadmap.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851392" y="4878324"/>
            <a:ext cx="2240280" cy="585216"/>
          </a:xfrm>
          <a:prstGeom prst="roundRect">
            <a:avLst>
              <a:gd name="adj" fmla="val 50000"/>
            </a:avLst>
          </a:prstGeom>
          <a:solidFill>
            <a:srgbClr val="0E251C"/>
          </a:solidFill>
          <a:ln w="15875">
            <a:solidFill>
              <a:srgbClr val="D98E04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851392" y="4878324"/>
            <a:ext cx="2240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5-Domain Index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KisanDost AI  •  Bano Qabil &amp; Alibaba Hackathon 2026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Features — Marketplace &amp; Admin Hub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7899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farm-gate commerce to district-level government oversight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10725912" cy="2148840"/>
          </a:xfrm>
          <a:prstGeom prst="roundRect">
            <a:avLst>
              <a:gd name="adj" fmla="val 4255"/>
            </a:avLst>
          </a:prstGeom>
          <a:solidFill>
            <a:srgbClr val="F7F2E4"/>
          </a:solidFill>
          <a:ln w="12700">
            <a:solidFill>
              <a:srgbClr val="EDE3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2382012"/>
            <a:ext cx="768096" cy="768096"/>
          </a:xfrm>
          <a:prstGeom prst="ellipse">
            <a:avLst/>
          </a:prstGeom>
          <a:solidFill>
            <a:srgbClr val="D98E04"/>
          </a:solidFill>
          <a:ln/>
        </p:spPr>
      </p:sp>
      <p:pic>
        <p:nvPicPr>
          <p:cNvPr id="6" name="Image 0" descr="icons/store_173B2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1872" y="2592324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148840" y="1947672"/>
            <a:ext cx="6428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Mandi &amp; Dairy Marketplace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2148840" y="2350008"/>
            <a:ext cx="64282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Direct-to-consumer store for dairy products and verified livestock trading, backed by QR-coded digital health passports.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851392" y="2473452"/>
            <a:ext cx="2240280" cy="5852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98E0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851392" y="2473452"/>
            <a:ext cx="2240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Passports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31520" y="4096512"/>
            <a:ext cx="10725912" cy="2148840"/>
          </a:xfrm>
          <a:prstGeom prst="roundRect">
            <a:avLst>
              <a:gd name="adj" fmla="val 4255"/>
            </a:avLst>
          </a:prstGeom>
          <a:solidFill>
            <a:srgbClr val="F7F2E4"/>
          </a:solidFill>
          <a:ln w="12700">
            <a:solidFill>
              <a:srgbClr val="EDE3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51560" y="4786884"/>
            <a:ext cx="768096" cy="768096"/>
          </a:xfrm>
          <a:prstGeom prst="ellipse">
            <a:avLst/>
          </a:prstGeom>
          <a:solidFill>
            <a:srgbClr val="D98E04"/>
          </a:solidFill>
          <a:ln/>
        </p:spPr>
      </p:sp>
      <p:pic>
        <p:nvPicPr>
          <p:cNvPr id="13" name="Image 1" descr="icons/map_173B2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872" y="4997196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148840" y="4352544"/>
            <a:ext cx="6428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Outbreak Radar</a:t>
            </a:r>
            <a:endParaRPr lang="en-US" sz="1650" dirty="0"/>
          </a:p>
        </p:txBody>
      </p:sp>
      <p:sp>
        <p:nvSpPr>
          <p:cNvPr id="15" name="Text 11"/>
          <p:cNvSpPr txBox="1"/>
          <p:nvPr/>
        </p:nvSpPr>
        <p:spPr>
          <a:xfrm>
            <a:off x="2148840" y="4754880"/>
            <a:ext cx="64282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district outbreak containment map for livestock commissioners, with automated broadcast alerts and subsidy verification workflows.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851392" y="4878324"/>
            <a:ext cx="2240280" cy="5852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98E04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851392" y="4878324"/>
            <a:ext cx="2240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Console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KisanDost AI  •  Bano Qabil &amp; Alibaba Hackathon 2026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2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Technology Stack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78992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production-grade, full-stack implementation baseline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10725912" cy="457200"/>
          </a:xfrm>
          <a:prstGeom prst="roundRect">
            <a:avLst>
              <a:gd name="adj" fmla="val 12000"/>
            </a:avLst>
          </a:prstGeom>
          <a:solidFill>
            <a:srgbClr val="173B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7373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17373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/ Package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778240" y="1737360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194560"/>
            <a:ext cx="10725912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219456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108960" y="2194560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19, TypeScript 5.8, Tailwind CSS v4, Motion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778240" y="2194560"/>
            <a:ext cx="2496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Reactive, strictly-typed component UI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2816352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SDK &amp; Models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108960" y="2816352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@google/genai 2.4.0 — Gemini 3.7 Flash &amp; 3.1 Flash Lite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778240" y="2816352"/>
            <a:ext cx="2496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reasoning, structured JSON schemas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3438144"/>
            <a:ext cx="10725912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3438144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Engine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108960" y="3438144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 + ElevenLabs config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778240" y="3438144"/>
            <a:ext cx="2496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Urdu/Punjabi native text-to-speech synthesis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405993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3108960" y="4059936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4.21, Node.js, TSX / esbuild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778240" y="4059936"/>
            <a:ext cx="2496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REST routing, rate guards, RBAC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31520" y="4681728"/>
            <a:ext cx="10725912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4400" y="468172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Auth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3108960" y="4681728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Firestore 12.17 &amp; Auth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778240" y="4681728"/>
            <a:ext cx="2496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sync, security rules, offline cache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914400" y="530352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3108960" y="5303520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6.2.3, esbuild 0.25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778240" y="5303520"/>
            <a:ext cx="2496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Zero-config bundling, CommonJS server build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31520" y="5925312"/>
            <a:ext cx="10725912" cy="0"/>
          </a:xfrm>
          <a:prstGeom prst="line">
            <a:avLst/>
          </a:prstGeom>
          <a:noFill/>
          <a:ln w="12700">
            <a:solidFill>
              <a:srgbClr val="EDE3C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KisanDost AI  •  Bano Qabil &amp; Alibaba Hackathon 2026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Analysis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7899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landscape gaps, global benchmarks, and KisanDost AI's advantage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5349240" cy="2926080"/>
          </a:xfrm>
          <a:prstGeom prst="roundRect">
            <a:avLst>
              <a:gd name="adj" fmla="val 3125"/>
            </a:avLst>
          </a:prstGeom>
          <a:solidFill>
            <a:srgbClr val="F7F2E4"/>
          </a:solidFill>
          <a:ln w="12700">
            <a:solidFill>
              <a:srgbClr val="EDE3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947672"/>
            <a:ext cx="548640" cy="548640"/>
          </a:xfrm>
          <a:prstGeom prst="ellipse">
            <a:avLst/>
          </a:prstGeom>
          <a:solidFill>
            <a:srgbClr val="173B2E"/>
          </a:solidFill>
          <a:ln/>
        </p:spPr>
      </p:sp>
      <p:pic>
        <p:nvPicPr>
          <p:cNvPr id="6" name="Image 0" descr="icons/warning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084832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198424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Pakistan Today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260604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SMS helplines or basic classifieds only</a:t>
            </a:r>
            <a:endParaRPr lang="en-US" sz="1200" dirty="0"/>
          </a:p>
          <a:p>
            <a:pPr marL="203200" indent="-2032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multimodal AI image diagnostics</a:t>
            </a:r>
            <a:endParaRPr lang="en-US" sz="1200" dirty="0"/>
          </a:p>
          <a:p>
            <a:pPr marL="203200" indent="-2032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localized regional-language voice synthesis</a:t>
            </a:r>
            <a:endParaRPr lang="en-US" sz="1200" dirty="0"/>
          </a:p>
          <a:p>
            <a:pPr marL="203200" indent="-2032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failure during internet blackouts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55080" y="1691640"/>
            <a:ext cx="5349240" cy="2926080"/>
          </a:xfrm>
          <a:prstGeom prst="roundRect">
            <a:avLst>
              <a:gd name="adj" fmla="val 3125"/>
            </a:avLst>
          </a:prstGeom>
          <a:solidFill>
            <a:srgbClr val="F7F2E4"/>
          </a:solidFill>
          <a:ln w="12700">
            <a:solidFill>
              <a:srgbClr val="EDE3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29400" y="1947672"/>
            <a:ext cx="548640" cy="548640"/>
          </a:xfrm>
          <a:prstGeom prst="ellipse">
            <a:avLst/>
          </a:prstGeom>
          <a:solidFill>
            <a:srgbClr val="173B2E"/>
          </a:solidFill>
          <a:ln/>
        </p:spPr>
      </p:sp>
      <p:pic>
        <p:nvPicPr>
          <p:cNvPr id="11" name="Image 1" descr="icons/glob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084832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60920" y="198424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Standard (USA, EU, India)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720840" y="260604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like CattleEye, ConnectTerra lead the category</a:t>
            </a:r>
            <a:endParaRPr lang="en-US" sz="1200" dirty="0"/>
          </a:p>
          <a:p>
            <a:pPr marL="203200" indent="-2032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Rely on $100+ IoT collar hardware</a:t>
            </a:r>
            <a:endParaRPr lang="en-US" sz="1200" dirty="0"/>
          </a:p>
          <a:p>
            <a:pPr marL="203200" indent="-2032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 on high-cost cloud APIs</a:t>
            </a:r>
            <a:endParaRPr lang="en-US" sz="1200" dirty="0"/>
          </a:p>
          <a:p>
            <a:pPr marL="203200" indent="-2032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stable 5G infrastructure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31520" y="4846320"/>
            <a:ext cx="10972800" cy="868680"/>
          </a:xfrm>
          <a:prstGeom prst="roundRect">
            <a:avLst>
              <a:gd name="adj" fmla="val 9474"/>
            </a:avLst>
          </a:prstGeom>
          <a:solidFill>
            <a:srgbClr val="D98E04"/>
          </a:solidFill>
          <a:ln/>
        </p:spPr>
      </p:sp>
      <p:pic>
        <p:nvPicPr>
          <p:cNvPr id="15" name="Image 2" descr="icons/bullseye_173B2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5102352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08760" y="4937760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E2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KisanDost AI's Advantage: the first end-to-end Pakistani platform combining real-time AI vision diagnostics, offline resilience, and a government oversight portal — adapting global best practice without expensive IoT hardware.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KisanDost AI  •  Bano Qabil &amp; Alibaba Hackathon 2026</a:t>
            </a:r>
            <a:endParaRPr lang="en-US" sz="900" dirty="0"/>
          </a:p>
        </p:txBody>
      </p:sp>
      <p:sp>
        <p:nvSpPr>
          <p:cNvPr id="18" name="Text 1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2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Hackathon Innovation Scorecard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7899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Self-assessed against the Bano Qabil &amp; Alibaba Hackathon evaluation dimensions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173B2E"/>
          </a:solidFill>
          <a:ln w="12700">
            <a:solidFill>
              <a:srgbClr val="2A524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745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9.8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7860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Uniqueness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16552" y="1737360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173B2E"/>
          </a:solidFill>
          <a:ln w="12700">
            <a:solidFill>
              <a:srgbClr val="2A524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99432" y="18745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9.9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4599432" y="257860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&amp; Multimodal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01584" y="1737360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173B2E"/>
          </a:solidFill>
          <a:ln w="12700">
            <a:solidFill>
              <a:srgbClr val="2A524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84464" y="18745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9.7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8284464" y="257860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Execution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410712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173B2E"/>
          </a:solidFill>
          <a:ln w="12700">
            <a:solidFill>
              <a:srgbClr val="2A524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354787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10.0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2519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&amp; Civic Impact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16552" y="3410712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173B2E"/>
          </a:solidFill>
          <a:ln w="12700">
            <a:solidFill>
              <a:srgbClr val="2A524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99432" y="354787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9.8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4599432" y="42519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&amp; Localization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01584" y="3410712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173B2E"/>
          </a:solidFill>
          <a:ln w="12700">
            <a:solidFill>
              <a:srgbClr val="2A524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84464" y="354787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9.6</a:t>
            </a:r>
            <a:endParaRPr lang="en-US" sz="3400" dirty="0"/>
          </a:p>
        </p:txBody>
      </p:sp>
      <p:sp>
        <p:nvSpPr>
          <p:cNvPr id="21" name="Text 19"/>
          <p:cNvSpPr txBox="1"/>
          <p:nvPr/>
        </p:nvSpPr>
        <p:spPr>
          <a:xfrm>
            <a:off x="8284464" y="42519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Architecture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KisanDost AI  •  Bano Qabil &amp; Alibaba Hackathon 2026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Roadmap &amp; Scalability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7899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smartphone AI today to a regional agri-fintech platform tomorrow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417320" y="2743200"/>
            <a:ext cx="9326880" cy="0"/>
          </a:xfrm>
          <a:prstGeom prst="line">
            <a:avLst/>
          </a:prstGeom>
          <a:noFill/>
          <a:ln w="25400">
            <a:solidFill>
              <a:srgbClr val="EDE3C8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988820" y="2377440"/>
            <a:ext cx="731520" cy="731520"/>
          </a:xfrm>
          <a:prstGeom prst="ellipse">
            <a:avLst/>
          </a:prstGeom>
          <a:solidFill>
            <a:srgbClr val="173B2E"/>
          </a:solidFill>
          <a:ln w="25400">
            <a:solidFill>
              <a:srgbClr val="D98E04"/>
            </a:solidFill>
            <a:prstDash val="solid"/>
          </a:ln>
        </p:spPr>
      </p:sp>
      <p:pic>
        <p:nvPicPr>
          <p:cNvPr id="6" name="Image 0" descr="icons/satellite_D98E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0844" y="2569464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88820" y="199339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3375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 Hardware Integration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84048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Bluetooth smart ear tags for real-time body temperature and rumination monitoring.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737860" y="2377440"/>
            <a:ext cx="731520" cy="731520"/>
          </a:xfrm>
          <a:prstGeom prst="ellipse">
            <a:avLst/>
          </a:prstGeom>
          <a:solidFill>
            <a:srgbClr val="173B2E"/>
          </a:solidFill>
          <a:ln w="25400">
            <a:solidFill>
              <a:srgbClr val="D98E04"/>
            </a:solidFill>
            <a:prstDash val="solid"/>
          </a:ln>
        </p:spPr>
      </p:sp>
      <p:pic>
        <p:nvPicPr>
          <p:cNvPr id="11" name="Image 1" descr="icons/loan_D98E0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9884" y="256946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737860" y="199339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480560" y="33375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FinTech &amp; Dairy Micro-Loans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617720" y="384048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Partnering with rural banks to use Digital Health Passports as credit-scoring metrics for livestock loans.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9486900" y="2377440"/>
            <a:ext cx="731520" cy="731520"/>
          </a:xfrm>
          <a:prstGeom prst="ellipse">
            <a:avLst/>
          </a:prstGeom>
          <a:solidFill>
            <a:srgbClr val="173B2E"/>
          </a:solidFill>
          <a:ln w="25400">
            <a:solidFill>
              <a:srgbClr val="D98E04"/>
            </a:solidFill>
            <a:prstDash val="solid"/>
          </a:ln>
        </p:spPr>
      </p:sp>
      <p:pic>
        <p:nvPicPr>
          <p:cNvPr id="16" name="Image 2" descr="icons/globe_D98E0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8924" y="2569464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486900" y="199339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8229600" y="33375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Expansion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8366760" y="384048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Localized Sindhi &amp; Pashto dialect support, expanding across South Asia and East Africa.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KisanDost AI  •  Bano Qabil &amp; Alibaba Hackathon 2026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029200" cy="5029200"/>
          </a:xfrm>
          <a:prstGeom prst="ellipse">
            <a:avLst/>
          </a:prstGeom>
          <a:solidFill>
            <a:srgbClr val="0E251C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3840480"/>
            <a:ext cx="4572000" cy="4572000"/>
          </a:xfrm>
          <a:prstGeom prst="ellipse">
            <a:avLst/>
          </a:prstGeom>
          <a:solidFill>
            <a:srgbClr val="0E251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8229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90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691640"/>
            <a:ext cx="9784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KisanDost AI is an enterprise livestock intelligence ecosystem built for South Asia's 8 million cattle farmers — combining Google Gemini multimodal vision, trilingual Urdu voice interaction, and an offline-resilient diagnostic engine to give every farmer a 24/7 pocket veterinarian, while empowering district livestock directors with real-time epidemic surveillance.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448056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• Containerized Cloud Run • Zero client-side API key leakage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88720" y="5074920"/>
            <a:ext cx="1828800" cy="0"/>
          </a:xfrm>
          <a:prstGeom prst="line">
            <a:avLst/>
          </a:prstGeom>
          <a:noFill/>
          <a:ln w="25400">
            <a:solidFill>
              <a:srgbClr val="D98E0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88720" y="52578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Bano Qabil &amp; Alibaba Hackathon 2026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2026-09-02T22:04:05Z</dcterms:created>
  <dcterms:modified xsi:type="dcterms:W3CDTF">2026-09-02T22:04:05Z</dcterms:modified>
</cp:coreProperties>
</file>